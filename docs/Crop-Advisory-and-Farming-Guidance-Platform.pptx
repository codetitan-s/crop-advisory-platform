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embeddedFontLst>
    <p:embeddedFont>
      <p:font typeface="Consolas" panose="020B0609020204030204" pitchFamily="49" charset="0"/>
      <p:regular r:id="rId15"/>
      <p:bold r:id="rId16"/>
      <p:italic r:id="rId17"/>
      <p:boldItalic r:id="rId18"/>
    </p:embeddedFont>
    <p:embeddedFont>
      <p:font typeface="Inter" panose="020B0604020202020204" charset="0"/>
      <p:regular r:id="rId19"/>
    </p:embeddedFont>
    <p:embeddedFont>
      <p:font typeface="Inter Bold" panose="020B0604020202020204" charset="0"/>
      <p:regular r:id="rId20"/>
    </p:embeddedFont>
    <p:embeddedFont>
      <p:font typeface="Petrona Bold" panose="020B0604020202020204" charset="0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CFD"/>
    <a:srgbClr val="F9FB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2" d="100"/>
          <a:sy n="82" d="100"/>
        </p:scale>
        <p:origin x="691" y="-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353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 l="16709" r="49046"/>
          <a:stretch>
            <a:fillRect/>
          </a:stretch>
        </p:blipFill>
        <p:spPr>
          <a:xfrm>
            <a:off x="7053943" y="0"/>
            <a:ext cx="5138058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1849537"/>
            <a:ext cx="6296860" cy="12404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Crop Advisory &amp; Farming Guidance Platform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661475" y="3373438"/>
            <a:ext cx="6296860" cy="1634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Capstone Project Review</a:t>
            </a: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Java (Spring Boot) Track</a:t>
            </a:r>
            <a:endParaRPr lang="en-US" sz="1450" dirty="0"/>
          </a:p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Data-driven crop advisory connecting farmers and agricultural officers in one integrated system.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Suhail Subbhan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3347" b="-3347"/>
          <a:stretch>
            <a:fillRect/>
          </a:stretch>
        </p:blipFill>
        <p:spPr>
          <a:xfrm>
            <a:off x="0" y="350837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892572"/>
            <a:ext cx="6296860" cy="1054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Problem: Fragmented Agricultural Advisory</a:t>
            </a:r>
            <a:endParaRPr lang="en-US" sz="33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151658"/>
            <a:ext cx="6296860" cy="118020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9239" y="2331343"/>
            <a:ext cx="5861300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Farmers Lack Timely Support</a:t>
            </a:r>
            <a:endParaRPr lang="en-US" sz="1650" dirty="0"/>
          </a:p>
        </p:txBody>
      </p:sp>
      <p:sp>
        <p:nvSpPr>
          <p:cNvPr id="6" name="Text 2"/>
          <p:cNvSpPr/>
          <p:nvPr/>
        </p:nvSpPr>
        <p:spPr>
          <a:xfrm>
            <a:off x="5489239" y="2676723"/>
            <a:ext cx="586130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are rooted in tradition, not data. A leaf spot appears — but there is no fast, reliable channel to reach an expert before the damage spreads.</a:t>
            </a:r>
            <a:endParaRPr lang="en-US" sz="12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3468390"/>
            <a:ext cx="6296860" cy="118020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9239" y="3648075"/>
            <a:ext cx="5861300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Officers Have No Tracking System</a:t>
            </a:r>
            <a:endParaRPr lang="en-US" sz="1650" dirty="0"/>
          </a:p>
        </p:txBody>
      </p:sp>
      <p:sp>
        <p:nvSpPr>
          <p:cNvPr id="9" name="Text 4"/>
          <p:cNvSpPr/>
          <p:nvPr/>
        </p:nvSpPr>
        <p:spPr>
          <a:xfrm>
            <a:off x="5489239" y="3993455"/>
            <a:ext cx="586130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requests arrive scattered across phone calls, messages, and informal channels — impossible to prioritize, assign, or close systematically.</a:t>
            </a:r>
            <a:endParaRPr lang="en-US" sz="12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4785122"/>
            <a:ext cx="6296860" cy="1180207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489239" y="4964807"/>
            <a:ext cx="5861300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Result</a:t>
            </a:r>
            <a:endParaRPr lang="en-US" sz="1650" dirty="0"/>
          </a:p>
        </p:txBody>
      </p:sp>
      <p:sp>
        <p:nvSpPr>
          <p:cNvPr id="12" name="Text 6"/>
          <p:cNvSpPr/>
          <p:nvPr/>
        </p:nvSpPr>
        <p:spPr>
          <a:xfrm>
            <a:off x="5489239" y="5310188"/>
            <a:ext cx="586130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Missed crop interventions, inefficient communication, and zero visibility into request status for either party.</a:t>
            </a:r>
            <a:endParaRPr lang="en-US" sz="125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024E8D-C502-85F8-4BFB-D127AA023D7A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87003"/>
            <a:ext cx="10868745" cy="558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Proposed Solution: Integrated Advisory Platform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46" y="1659837"/>
            <a:ext cx="6616575" cy="4411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02189" y="1826716"/>
            <a:ext cx="3534282" cy="279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One Platform, Two Workflows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8002189" y="2258814"/>
            <a:ext cx="3534282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web platform connecting farmers and agricultural officers with structured, trackable processes.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02189" y="3172222"/>
            <a:ext cx="3534282" cy="2746375"/>
          </a:xfrm>
          <a:prstGeom prst="rect">
            <a:avLst/>
          </a:prstGeom>
          <a:noFill/>
          <a:ln/>
        </p:spPr>
        <p:txBody>
          <a:bodyPr wrap="square" lIns="0" tIns="68047" rIns="0" bIns="0" rtlCol="0" anchor="t">
            <a:normAutofit/>
          </a:bodyPr>
          <a:lstStyle/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features: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Farm profiles, soil logging, advisory requests, disease reports, officer dashboards, admin knowledge base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Advisory workflow: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PENDING → ASSIGNED → RESPONDED → CLOSED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Disease workflow: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REPORTED → UNDER_REVIEW → RESOLVED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AI crop recommendations with human-in-the-loop officer review</a:t>
            </a:r>
            <a:endParaRPr lang="en-US" sz="13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4A738D-8EB7-11B2-F211-70D9D8334462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2342"/>
            <a:ext cx="10868745" cy="620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User Roles &amp; Permissions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661475" y="1640582"/>
            <a:ext cx="3168769" cy="287139"/>
          </a:xfrm>
          <a:prstGeom prst="roundRect">
            <a:avLst>
              <a:gd name="adj" fmla="val 22118"/>
            </a:avLst>
          </a:prstGeom>
          <a:solidFill>
            <a:srgbClr val="CCEEFF"/>
          </a:solidFill>
          <a:ln/>
        </p:spPr>
      </p:sp>
      <p:sp>
        <p:nvSpPr>
          <p:cNvPr id="4" name="Text 2"/>
          <p:cNvSpPr/>
          <p:nvPr/>
        </p:nvSpPr>
        <p:spPr>
          <a:xfrm>
            <a:off x="774879" y="1697236"/>
            <a:ext cx="3551546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ROLE-BASED ACCESS CONTROL (RBAC)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1475" y="2140347"/>
            <a:ext cx="10868745" cy="3106737"/>
          </a:xfrm>
          <a:prstGeom prst="roundRect">
            <a:avLst>
              <a:gd name="adj" fmla="val 2555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1475" y="2691805"/>
            <a:ext cx="10868745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61475" y="3542506"/>
            <a:ext cx="10868745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61475" y="4393208"/>
            <a:ext cx="10868745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7825" y="2146697"/>
            <a:ext cx="5428023" cy="545108"/>
          </a:xfrm>
          <a:custGeom>
            <a:avLst/>
            <a:gdLst/>
            <a:ahLst/>
            <a:cxnLst/>
            <a:rect l="l" t="t" r="r" b="b"/>
            <a:pathLst>
              <a:path w="5428023" h="545108">
                <a:moveTo>
                  <a:pt x="66156" y="0"/>
                </a:moveTo>
                <a:lnTo>
                  <a:pt x="5428023" y="0"/>
                </a:lnTo>
                <a:lnTo>
                  <a:pt x="5428023" y="545108"/>
                </a:lnTo>
                <a:lnTo>
                  <a:pt x="0" y="545108"/>
                </a:lnTo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2D5016"/>
          </a:solidFill>
          <a:ln/>
        </p:spPr>
      </p:sp>
      <p:sp>
        <p:nvSpPr>
          <p:cNvPr id="10" name="Text 8"/>
          <p:cNvSpPr/>
          <p:nvPr/>
        </p:nvSpPr>
        <p:spPr>
          <a:xfrm>
            <a:off x="856832" y="2266454"/>
            <a:ext cx="565959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Role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095848" y="2146697"/>
            <a:ext cx="5428023" cy="545108"/>
          </a:xfrm>
          <a:custGeom>
            <a:avLst/>
            <a:gdLst/>
            <a:ahLst/>
            <a:cxnLst/>
            <a:rect l="l" t="t" r="r" b="b"/>
            <a:pathLst>
              <a:path w="5428023" h="545108">
                <a:moveTo>
                  <a:pt x="0" y="0"/>
                </a:moveTo>
                <a:lnTo>
                  <a:pt x="5361866" y="0"/>
                </a:lnTo>
                <a:arcTo wR="66156" hR="66158" stAng="16200000" swAng="5400000"/>
                <a:lnTo>
                  <a:pt x="5428023" y="545108"/>
                </a:lnTo>
                <a:lnTo>
                  <a:pt x="0" y="545108"/>
                </a:lnTo>
                <a:lnTo>
                  <a:pt x="0" y="0"/>
                </a:lnTo>
                <a:close/>
              </a:path>
            </a:pathLst>
          </a:custGeom>
          <a:solidFill>
            <a:srgbClr val="2D5016"/>
          </a:solidFill>
          <a:ln/>
        </p:spPr>
      </p:sp>
      <p:sp>
        <p:nvSpPr>
          <p:cNvPr id="12" name="Text 10"/>
          <p:cNvSpPr/>
          <p:nvPr/>
        </p:nvSpPr>
        <p:spPr>
          <a:xfrm>
            <a:off x="6284854" y="2266454"/>
            <a:ext cx="565959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Permissions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56832" y="2814737"/>
            <a:ext cx="565959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Farmer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284854" y="2814737"/>
            <a:ext cx="50500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Create/edit farms, log soil readings, submit advisory requests, submit disease reports, view responses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6832" y="3665438"/>
            <a:ext cx="565959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Officer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284854" y="3665438"/>
            <a:ext cx="50500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 request queue, assign requests, respond to requests, review disease reports, resolve reports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6832" y="4516140"/>
            <a:ext cx="565959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Admin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84854" y="4516140"/>
            <a:ext cx="50500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users, manage knowledge base, view system analytics, configure system settings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61475" y="5459710"/>
            <a:ext cx="10868745" cy="755948"/>
          </a:xfrm>
          <a:prstGeom prst="roundRect">
            <a:avLst>
              <a:gd name="adj" fmla="val 10502"/>
            </a:avLst>
          </a:prstGeom>
          <a:solidFill>
            <a:srgbClr val="CCEEFF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482" y="5727402"/>
            <a:ext cx="236234" cy="18901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75723" y="5695950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RBAC ensures data isolation — farmers see only their own farms; officers see only their assigned requests.</a:t>
            </a:r>
            <a:endParaRPr lang="en-US" sz="14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0BCEDE-AAB8-E842-1B19-3155C1D7AFCA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1464"/>
            <a:ext cx="10868745" cy="496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System Architecture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61475" y="1339552"/>
            <a:ext cx="1844133" cy="229691"/>
          </a:xfrm>
          <a:prstGeom prst="roundRect">
            <a:avLst>
              <a:gd name="adj" fmla="val 22120"/>
            </a:avLst>
          </a:prstGeom>
          <a:noFill/>
          <a:ln w="6350">
            <a:solidFill>
              <a:srgbClr val="007EB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2159" y="1384895"/>
            <a:ext cx="227235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50" dirty="0">
                <a:solidFill>
                  <a:srgbClr val="007E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THREE-TIER ARCHITECTURE</a:t>
            </a:r>
            <a:endParaRPr lang="en-US" sz="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244" y="1705273"/>
            <a:ext cx="5873206" cy="39734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47195" y="3242152"/>
            <a:ext cx="1069451" cy="770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Three-Tier Architecture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145529" y="4398579"/>
            <a:ext cx="1590999" cy="513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Backend (Spring Boot)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45529" y="4981683"/>
            <a:ext cx="1590999" cy="352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 API, Spring Security, JWT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416989" y="4398579"/>
            <a:ext cx="1590998" cy="513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Database (PostgreSQL)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416989" y="4981683"/>
            <a:ext cx="1590998" cy="352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storage via Spring Data JPA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416989" y="2042251"/>
            <a:ext cx="1590998" cy="513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Future: FastAPI AI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416989" y="2625355"/>
            <a:ext cx="1590998" cy="352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microservice (dashed integration)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155719" y="2170637"/>
            <a:ext cx="1590998" cy="2567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Frontend (React)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155719" y="2496969"/>
            <a:ext cx="1590998" cy="352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SPA with Tailwind &amp; Axios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61475" y="5814715"/>
            <a:ext cx="10868745" cy="441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Spring Boot REST API serves as the central hub. Spring Security + JWT handles authentication at every endpoint. API documentation is accessible at </a:t>
            </a:r>
            <a:r>
              <a:rPr lang="en-US" sz="11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/swagger-ui.html</a:t>
            </a:r>
            <a:r>
              <a:rPr lang="en-US" sz="11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The dashed FastAPI box represents the planned AI microservice integration.</a:t>
            </a:r>
            <a:endParaRPr lang="en-US" sz="11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8E02F3-0DC8-B6A8-6086-9D25DED21D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641"/>
          <a:stretch>
            <a:fillRect/>
          </a:stretch>
        </p:blipFill>
        <p:spPr>
          <a:xfrm>
            <a:off x="2540305" y="1160960"/>
            <a:ext cx="7424789" cy="457163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5C9ED987-BD1E-8084-7AE7-C74E91C3C390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2585"/>
            <a:ext cx="10868745" cy="5494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Database Schema</a:t>
            </a:r>
            <a:endParaRPr lang="en-US" sz="3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61393"/>
            <a:ext cx="4707018" cy="47071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6484" y="2251770"/>
            <a:ext cx="5230086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7 Core Tables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6306484" y="2674739"/>
            <a:ext cx="5230086" cy="2079625"/>
          </a:xfrm>
          <a:prstGeom prst="rect">
            <a:avLst/>
          </a:prstGeom>
          <a:noFill/>
          <a:ln/>
        </p:spPr>
        <p:txBody>
          <a:bodyPr wrap="square" lIns="0" tIns="66983" rIns="0" bIns="0" rtlCol="0" anchor="t">
            <a:normAutofit/>
          </a:bodyPr>
          <a:lstStyle/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Farmers, officers, admins with role-based access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Farm: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Location, crop type, and area details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SoilReading: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Logged pH, nitrogen, and moisture metrics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SeasonLog: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Seasonal crop tracking and history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AdvisoryRequest: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Farmer requests with status workflow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DiseaseReport: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Disease observations with officer review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KnowledgeBaseEntry:</a:t>
            </a: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Admin-curated advisory content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306484" y="4887813"/>
            <a:ext cx="5230086" cy="5052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relationships are One-to-Many. Foreign keys enforce referential integrity throughout.</a:t>
            </a:r>
            <a:endParaRPr lang="en-US" sz="13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3B19D6-1277-211E-9E85-61C9266B6D14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91939"/>
            <a:ext cx="10868745" cy="5891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Technical Stack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1522214"/>
            <a:ext cx="10868745" cy="3991769"/>
          </a:xfrm>
          <a:prstGeom prst="roundRect">
            <a:avLst>
              <a:gd name="adj" fmla="val 1889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7825" y="1528564"/>
            <a:ext cx="10856046" cy="4973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67825" y="1528564"/>
            <a:ext cx="5428023" cy="497384"/>
          </a:xfrm>
          <a:custGeom>
            <a:avLst/>
            <a:gdLst/>
            <a:ahLst/>
            <a:cxnLst/>
            <a:rect l="l" t="t" r="r" b="b"/>
            <a:pathLst>
              <a:path w="5428023" h="497384">
                <a:moveTo>
                  <a:pt x="62849" y="0"/>
                </a:moveTo>
                <a:lnTo>
                  <a:pt x="5428023" y="0"/>
                </a:lnTo>
                <a:lnTo>
                  <a:pt x="5428023" y="497384"/>
                </a:lnTo>
                <a:lnTo>
                  <a:pt x="0" y="497384"/>
                </a:lnTo>
                <a:lnTo>
                  <a:pt x="0" y="62850"/>
                </a:lnTo>
                <a:arcTo wR="62849" hR="62850" stAng="10800000" swAng="5400000"/>
                <a:close/>
              </a:path>
            </a:pathLst>
          </a:custGeom>
          <a:solidFill>
            <a:srgbClr val="2D5016"/>
          </a:solidFill>
          <a:ln/>
        </p:spPr>
      </p:sp>
      <p:sp>
        <p:nvSpPr>
          <p:cNvPr id="6" name="Text 4"/>
          <p:cNvSpPr/>
          <p:nvPr/>
        </p:nvSpPr>
        <p:spPr>
          <a:xfrm>
            <a:off x="847307" y="1637209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Layer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95848" y="1528564"/>
            <a:ext cx="5428023" cy="497384"/>
          </a:xfrm>
          <a:custGeom>
            <a:avLst/>
            <a:gdLst/>
            <a:ahLst/>
            <a:cxnLst/>
            <a:rect l="l" t="t" r="r" b="b"/>
            <a:pathLst>
              <a:path w="5428023" h="497384">
                <a:moveTo>
                  <a:pt x="0" y="0"/>
                </a:moveTo>
                <a:lnTo>
                  <a:pt x="5365174" y="0"/>
                </a:lnTo>
                <a:arcTo wR="62849" hR="62850" stAng="16200000" swAng="5400000"/>
                <a:lnTo>
                  <a:pt x="5428023" y="497384"/>
                </a:lnTo>
                <a:lnTo>
                  <a:pt x="0" y="497384"/>
                </a:lnTo>
                <a:lnTo>
                  <a:pt x="0" y="0"/>
                </a:lnTo>
                <a:close/>
              </a:path>
            </a:pathLst>
          </a:custGeom>
          <a:solidFill>
            <a:srgbClr val="2D5016"/>
          </a:solidFill>
          <a:ln/>
        </p:spPr>
      </p:sp>
      <p:sp>
        <p:nvSpPr>
          <p:cNvPr id="8" name="Text 6"/>
          <p:cNvSpPr/>
          <p:nvPr/>
        </p:nvSpPr>
        <p:spPr>
          <a:xfrm>
            <a:off x="6278505" y="1637209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825" y="2025948"/>
            <a:ext cx="10856046" cy="4973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847307" y="2134592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78505" y="2134592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React, Tailwind CSS v4, Axios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825" y="2523331"/>
            <a:ext cx="10856046" cy="4973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47307" y="2631976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Backend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78505" y="2631976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Boot 3.x, Java 17, Spring Data JPA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825" y="3020715"/>
            <a:ext cx="10856046" cy="4973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847307" y="3129359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Authentication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78505" y="3129359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Security, JWT tokens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825" y="3518098"/>
            <a:ext cx="10856046" cy="4973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847307" y="3626743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Database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78505" y="3626743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with Spring Data JPA ORM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7825" y="4015482"/>
            <a:ext cx="10856046" cy="4973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847307" y="4124127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Build &amp; Test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78505" y="4124127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Maven, JUnit 5, Mockito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7825" y="4512866"/>
            <a:ext cx="10856046" cy="497384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847307" y="4621510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API Docs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78505" y="4621510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springdoc-openapi (Swagger UI)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7825" y="5010249"/>
            <a:ext cx="10856046" cy="497384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847307" y="5118894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Deployment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78505" y="5118894"/>
            <a:ext cx="567546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Render/Railway (backend), Vercel/Netlify (frontend)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1475" y="5705872"/>
            <a:ext cx="10868745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modern, industry-standard open-source stack. Spring Boot 3.x is the current LTS release; Java 17 is stable and production-proven.</a:t>
            </a:r>
            <a:endParaRPr lang="en-US" sz="14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5BFA61-8618-5128-8417-D2993B9D4353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233360" y="545505"/>
            <a:ext cx="6296860" cy="12404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Current Progress: MVP Complete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5233360" y="2069405"/>
            <a:ext cx="3053877" cy="2628702"/>
          </a:xfrm>
          <a:prstGeom prst="roundRect">
            <a:avLst>
              <a:gd name="adj" fmla="val 3020"/>
            </a:avLst>
          </a:prstGeom>
          <a:solidFill>
            <a:srgbClr val="CCEEFF"/>
          </a:solidFill>
          <a:ln w="6350">
            <a:solidFill>
              <a:srgbClr val="B2D4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28717" y="2264767"/>
            <a:ext cx="2663163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Backend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5428717" y="2688233"/>
            <a:ext cx="2663163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signup/login, farm CRUD, soil reading logging, full advisory request workflow, disease report submission with review and resolve.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476244" y="2069405"/>
            <a:ext cx="3053976" cy="2628702"/>
          </a:xfrm>
          <a:prstGeom prst="roundRect">
            <a:avLst>
              <a:gd name="adj" fmla="val 3020"/>
            </a:avLst>
          </a:prstGeom>
          <a:solidFill>
            <a:srgbClr val="CCEEFF"/>
          </a:solidFill>
          <a:ln w="6350">
            <a:solidFill>
              <a:srgbClr val="B2D4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71601" y="2264767"/>
            <a:ext cx="2663262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Frontend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8671601" y="2688233"/>
            <a:ext cx="266326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Role-based dashboards for Farmer and Officer, protected routes, Tailwind v4 styling applied throughout.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233360" y="4887119"/>
            <a:ext cx="6296860" cy="1425377"/>
          </a:xfrm>
          <a:prstGeom prst="roundRect">
            <a:avLst>
              <a:gd name="adj" fmla="val 5570"/>
            </a:avLst>
          </a:prstGeom>
          <a:solidFill>
            <a:srgbClr val="CCEEFF"/>
          </a:solidFill>
          <a:ln w="6350">
            <a:solidFill>
              <a:srgbClr val="B2D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28717" y="5082480"/>
            <a:ext cx="5906146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API &amp; Database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5428717" y="5505946"/>
            <a:ext cx="5906146" cy="611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Swagger UI live at </a:t>
            </a:r>
            <a:r>
              <a:rPr lang="en-US" sz="14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/swagger-ui.html</a:t>
            </a: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All 7 tables created, migrations tested, referential integrity verified.</a:t>
            </a:r>
            <a:endParaRPr lang="en-US" sz="14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8539BCD-465F-CAD2-97B0-B3957B3520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338" y="0"/>
            <a:ext cx="4951232" cy="68580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7BB366C-1386-ADF5-A933-43A9A7C63EB6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9927"/>
            <a:ext cx="10868745" cy="457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Demo: Key User Flows</a:t>
            </a:r>
            <a:endParaRPr lang="en-US" sz="2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42" y="1192907"/>
            <a:ext cx="4910312" cy="46321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2073" y="4249574"/>
            <a:ext cx="1558826" cy="2567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Farmer Flow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112073" y="4575911"/>
            <a:ext cx="1558826" cy="339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farm, log soil, request advisory.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285879" y="2025536"/>
            <a:ext cx="1558826" cy="256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Officer Flow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285879" y="2351873"/>
            <a:ext cx="1558826" cy="50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 queue, assign, respond, close request.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29109" y="4164525"/>
            <a:ext cx="1558825" cy="2567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Disease Flow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29109" y="4490862"/>
            <a:ext cx="1558825" cy="509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Farmer reports, officer reviews, resolves.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1475" y="5940623"/>
            <a:ext cx="10868745" cy="387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request statuses — </a:t>
            </a: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PENDING, ASSIGNED, RESPONDED, CLOSED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and disease statuses — </a:t>
            </a: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REPORTED, UNDER_REVIEW, RESOLVED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are fully implemented, tested, and demonstrated in the live UI.</a:t>
            </a:r>
            <a:endParaRPr lang="en-US" sz="10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AFAD79-DBBC-EF1F-A0A1-62299879FD58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42553"/>
            <a:ext cx="10868745" cy="527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AI Enhancement Plan (Days 42–60)</a:t>
            </a:r>
            <a:endParaRPr lang="en-US" sz="3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9867" y="3618409"/>
            <a:ext cx="190495" cy="1905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955057" y="3882827"/>
            <a:ext cx="2340214" cy="131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650" dirty="0">
                <a:solidFill>
                  <a:srgbClr val="AEAE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There was an error generating this image</a:t>
            </a:r>
            <a:endParaRPr lang="en-US" sz="650" dirty="0"/>
          </a:p>
        </p:txBody>
      </p:sp>
      <p:sp>
        <p:nvSpPr>
          <p:cNvPr id="6" name="Text 3"/>
          <p:cNvSpPr/>
          <p:nvPr/>
        </p:nvSpPr>
        <p:spPr>
          <a:xfrm>
            <a:off x="1008296" y="1769491"/>
            <a:ext cx="3549264" cy="263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Human-in-the-Loop AI Integration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147838" y="5297289"/>
            <a:ext cx="3549264" cy="1039019"/>
          </a:xfrm>
          <a:prstGeom prst="roundRect">
            <a:avLst>
              <a:gd name="adj" fmla="val 6495"/>
            </a:avLst>
          </a:prstGeom>
          <a:solidFill>
            <a:srgbClr val="CCEEFF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0970" y="5528540"/>
            <a:ext cx="200814" cy="160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76165" y="5460207"/>
            <a:ext cx="2866556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assists officers — it does not replace them. Officers always have final say on every recommendation.</a:t>
            </a:r>
            <a:endParaRPr lang="en-US" sz="12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F16B11-F532-3885-1915-8C636F7C8C2E}"/>
              </a:ext>
            </a:extLst>
          </p:cNvPr>
          <p:cNvSpPr/>
          <p:nvPr/>
        </p:nvSpPr>
        <p:spPr>
          <a:xfrm>
            <a:off x="2827176" y="2929812"/>
            <a:ext cx="2855167" cy="1858428"/>
          </a:xfrm>
          <a:prstGeom prst="rect">
            <a:avLst/>
          </a:prstGeom>
          <a:solidFill>
            <a:srgbClr val="F9FBF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1008296" y="2345432"/>
            <a:ext cx="7906273" cy="3471366"/>
          </a:xfrm>
          <a:prstGeom prst="rect">
            <a:avLst/>
          </a:prstGeom>
          <a:noFill/>
          <a:ln/>
        </p:spPr>
        <p:txBody>
          <a:bodyPr wrap="square" lIns="0" tIns="64266" rIns="0" bIns="0" rtlCol="0" anchor="t">
            <a:normAutofit/>
          </a:bodyPr>
          <a:lstStyle/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Model:</a:t>
            </a:r>
            <a:r>
              <a:rPr lang="en-US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Random Forest trained on Kaggle Crop Recommendation dataset (soil, climate, crop yield data)</a:t>
            </a:r>
            <a:endParaRPr lang="en-US" dirty="0"/>
          </a:p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Deployment:</a:t>
            </a:r>
            <a:r>
              <a:rPr lang="en-US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Python FastAPI microservice, called by Spring Boot via REST</a:t>
            </a:r>
            <a:endParaRPr lang="en-US" dirty="0"/>
          </a:p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Integration:</a:t>
            </a:r>
            <a:r>
              <a:rPr lang="en-US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AI generates crop suggestions attached to advisory requests — officer reviews and edits before sending</a:t>
            </a:r>
            <a:endParaRPr lang="en-US" dirty="0"/>
          </a:p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Honest limitations:</a:t>
            </a:r>
            <a:r>
              <a:rPr lang="en-US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Model accuracy depends on dataset quality; no image classification in current scope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6A6BFD-F01F-3D89-A66C-D8404F1855C7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23417"/>
            <a:ext cx="10868745" cy="620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Challenges &amp; Lessons Learned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661475" y="2621657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6350">
            <a:solidFill>
              <a:srgbClr val="B2D4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5271" y="2648248"/>
            <a:ext cx="29764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275723" y="2686546"/>
            <a:ext cx="2851178" cy="620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Spring Boot Compatibility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75723" y="3420070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Reverted from 4.x to 3.x for stability and better community documentation support.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63135" y="2621657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6350">
            <a:solidFill>
              <a:srgbClr val="B2D4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26931" y="2648248"/>
            <a:ext cx="29764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977383" y="2686546"/>
            <a:ext cx="2851178" cy="620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CORS &amp; Dependency Management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977383" y="3420070"/>
            <a:ext cx="285117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Frontend-backend CORS configuration required careful tuning. Lombok + Java 17 version alignment reinforced the value of disciplined dependency management.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64794" y="2621657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CCEEFF"/>
          </a:solidFill>
          <a:ln w="6350">
            <a:solidFill>
              <a:srgbClr val="B2D4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590" y="2648248"/>
            <a:ext cx="29764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679042" y="2686546"/>
            <a:ext cx="2851178" cy="620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JSON Serialization &amp; Testing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8679042" y="3420070"/>
            <a:ext cx="2851178" cy="1518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Circular references resolved using </a:t>
            </a:r>
            <a:r>
              <a:rPr lang="en-US" sz="14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@JsonIgnore</a:t>
            </a: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Early unit tests caught integration bugs ahead of schedule — targeting ≥40% service-layer coverage.</a:t>
            </a:r>
            <a:endParaRPr lang="en-US" sz="14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1D7A47-5E70-135B-4127-6F317AD7C9B3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484EA8D-0491-6A9D-1FEC-E38C03014D25}"/>
              </a:ext>
            </a:extLst>
          </p:cNvPr>
          <p:cNvSpPr/>
          <p:nvPr/>
        </p:nvSpPr>
        <p:spPr>
          <a:xfrm>
            <a:off x="10916816" y="6410131"/>
            <a:ext cx="1275184" cy="447869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1496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872</Words>
  <Application>Microsoft Office PowerPoint</Application>
  <PresentationFormat>Widescreen</PresentationFormat>
  <Paragraphs>113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Inter</vt:lpstr>
      <vt:lpstr>Inter Bold</vt:lpstr>
      <vt:lpstr>Consolas</vt:lpstr>
      <vt:lpstr>Petrona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Suhail Subbhan</cp:lastModifiedBy>
  <cp:revision>2</cp:revision>
  <dcterms:created xsi:type="dcterms:W3CDTF">2026-08-12T15:20:40Z</dcterms:created>
  <dcterms:modified xsi:type="dcterms:W3CDTF">2026-08-12T17:08:54Z</dcterms:modified>
</cp:coreProperties>
</file>