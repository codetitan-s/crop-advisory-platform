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58" r:id="rId4"/>
    <p:sldId id="259" r:id="rId5"/>
    <p:sldId id="260" r:id="rId6"/>
    <p:sldId id="261" r:id="rId7"/>
    <p:sldId id="263" r:id="rId8"/>
    <p:sldId id="262" r:id="rId9"/>
    <p:sldId id="267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DM Sans SemiBold" panose="020B0604020202020204" charset="0"/>
      <p:regular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Inter Medium" panose="020B0604020202020204" charset="0"/>
      <p:regular r:id="rId19"/>
    </p:embeddedFont>
    <p:embeddedFont>
      <p:font typeface="Petrona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D"/>
    <a:srgbClr val="F9F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35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16709" r="49046"/>
          <a:stretch>
            <a:fillRect/>
          </a:stretch>
        </p:blipFill>
        <p:spPr>
          <a:xfrm>
            <a:off x="7053943" y="0"/>
            <a:ext cx="513805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49537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Crop Advisory &amp; Farming Guidance Platform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3373438"/>
            <a:ext cx="6296860" cy="163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Capstone Project Review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Java (Spring Boot) Track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crop advisory connecting farmers and agricultural officers in one integrated system.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Suhail Subbhan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14090"/>
            <a:ext cx="1413137" cy="213717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809" y="856258"/>
            <a:ext cx="1854054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075531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Advisory Gap in Agricultural Extension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693962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Farmers and extension officers operate in fundamentally disconnected systems — decisions are made on tradition rather than data, and caseloads are managed with no digital triage.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0274" y="2244427"/>
            <a:ext cx="5465328" cy="2260699"/>
          </a:xfrm>
          <a:prstGeom prst="roundRect">
            <a:avLst>
              <a:gd name="adj" fmla="val 933"/>
            </a:avLst>
          </a:prstGeom>
          <a:solidFill>
            <a:srgbClr val="2D5016"/>
          </a:solidFill>
          <a:ln/>
        </p:spPr>
      </p:sp>
      <p:sp>
        <p:nvSpPr>
          <p:cNvPr id="7" name="Text 5"/>
          <p:cNvSpPr/>
          <p:nvPr/>
        </p:nvSpPr>
        <p:spPr>
          <a:xfrm>
            <a:off x="700765" y="2363887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Farmer's Challenge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0765" y="2702917"/>
            <a:ext cx="5184348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Smallholder farmers lack access to timely, personalized advisory support. When a problem arises — a leaf spot, soil anomaly, or pest outbreak — there is no fast channel to reach a qualified extension officer. Decisions default to tradition, neighbors, or guesswork, leading to crop loss and financial risk.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0765" y="3669506"/>
            <a:ext cx="5184348" cy="493216"/>
          </a:xfrm>
          <a:prstGeom prst="roundRect">
            <a:avLst>
              <a:gd name="adj" fmla="val 4275"/>
            </a:avLst>
          </a:prstGeom>
          <a:solidFill>
            <a:srgbClr val="4B3F0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55" y="3853557"/>
            <a:ext cx="175712" cy="14049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7457" y="3812084"/>
            <a:ext cx="519675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fast expert channel = delayed diagnosis = preventable crop loss.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73643" y="2363887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Officer's Challenge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73643" y="2702917"/>
            <a:ext cx="5262927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Agricultural extension officers each serve hundreds of farmers simultaneously with no structured case management system. Requests arrive informally — by phone, in person, or via intermediaries — with no prioritization, tracking, or audit trail. High-urgency cases get lost in the noise.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73643" y="3669506"/>
            <a:ext cx="5262927" cy="701278"/>
          </a:xfrm>
          <a:prstGeom prst="roundRect">
            <a:avLst>
              <a:gd name="adj" fmla="val 3007"/>
            </a:avLst>
          </a:prstGeom>
          <a:solidFill>
            <a:srgbClr val="D4F7E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133" y="3853557"/>
            <a:ext cx="175712" cy="1404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30336" y="3812084"/>
            <a:ext cx="466574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triage system = equal weight to every case = critical requests missed.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61475" y="4639469"/>
            <a:ext cx="3543211" cy="1404441"/>
          </a:xfrm>
          <a:prstGeom prst="roundRect">
            <a:avLst>
              <a:gd name="adj" fmla="val 1501"/>
            </a:avLst>
          </a:prstGeom>
          <a:solidFill>
            <a:srgbClr val="F2EEEE"/>
          </a:solidFill>
          <a:ln/>
        </p:spPr>
      </p:sp>
      <p:sp>
        <p:nvSpPr>
          <p:cNvPr id="18" name="Text 14"/>
          <p:cNvSpPr/>
          <p:nvPr/>
        </p:nvSpPr>
        <p:spPr>
          <a:xfrm>
            <a:off x="801965" y="4779963"/>
            <a:ext cx="326223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Real-World Scenario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01965" y="5071170"/>
            <a:ext cx="3262231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Farmer notices leaf spots on crop. Has no fast way to submit a report, attach a photo, or reach an officer. Officer has no queue to see the request, assign it, or track resolution.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324143" y="4639469"/>
            <a:ext cx="3543311" cy="1404441"/>
          </a:xfrm>
          <a:prstGeom prst="roundRect">
            <a:avLst>
              <a:gd name="adj" fmla="val 1501"/>
            </a:avLst>
          </a:prstGeom>
          <a:solidFill>
            <a:srgbClr val="F2EEEE"/>
          </a:solidFill>
          <a:ln/>
        </p:spPr>
      </p:sp>
      <p:sp>
        <p:nvSpPr>
          <p:cNvPr id="21" name="Text 17"/>
          <p:cNvSpPr/>
          <p:nvPr/>
        </p:nvSpPr>
        <p:spPr>
          <a:xfrm>
            <a:off x="4464633" y="4779963"/>
            <a:ext cx="326233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Root Cause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4464633" y="5071170"/>
            <a:ext cx="3262330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Advisory communication is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inefficient, untracked, and slow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No structured digital touchpoint exists between the farm and the extension service at scale.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86910" y="4639469"/>
            <a:ext cx="3543311" cy="1404441"/>
          </a:xfrm>
          <a:prstGeom prst="roundRect">
            <a:avLst>
              <a:gd name="adj" fmla="val 1501"/>
            </a:avLst>
          </a:prstGeom>
          <a:solidFill>
            <a:srgbClr val="F2EEEE"/>
          </a:solidFill>
          <a:ln/>
        </p:spPr>
      </p:sp>
      <p:sp>
        <p:nvSpPr>
          <p:cNvPr id="24" name="Text 20"/>
          <p:cNvSpPr/>
          <p:nvPr/>
        </p:nvSpPr>
        <p:spPr>
          <a:xfrm>
            <a:off x="8127400" y="4779963"/>
            <a:ext cx="326233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Platform Opportunity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8127400" y="5071170"/>
            <a:ext cx="3262330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role-based web platform with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workflows, state-tracked requests, and officer dashboards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directly addresses both sides of this gap.</a:t>
            </a: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BB366C-1386-ADF5-A933-43A9A7C63EB6}"/>
              </a:ext>
            </a:extLst>
          </p:cNvPr>
          <p:cNvSpPr/>
          <p:nvPr/>
        </p:nvSpPr>
        <p:spPr>
          <a:xfrm>
            <a:off x="10916816" y="6410131"/>
            <a:ext cx="1275184" cy="447869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7003"/>
            <a:ext cx="10868745" cy="5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Proposed Solution: Integrated Advisory Platform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6" y="1659837"/>
            <a:ext cx="6616575" cy="4411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1826716"/>
            <a:ext cx="3534282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One Platform, Two Workflows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002189" y="2258814"/>
            <a:ext cx="353428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 platform connecting farmers and agricultural officers with structured, trackable processes.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2189" y="3172222"/>
            <a:ext cx="3534282" cy="2746375"/>
          </a:xfrm>
          <a:prstGeom prst="rect">
            <a:avLst/>
          </a:prstGeom>
          <a:noFill/>
          <a:ln/>
        </p:spPr>
        <p:txBody>
          <a:bodyPr wrap="square" lIns="0" tIns="68047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features: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Farm profiles, soil logging, advisory requests, disease reports, officer dashboards, admin knowledge base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Advisory workflow: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PENDING → ASSIGNED → RESPONDED → CLOSED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Disease workflow: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REPORTED → UNDER_REVIEW → RESOLVED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crop recommendations with human-in-the-loop officer review</a:t>
            </a:r>
            <a:endParaRPr lang="en-US" sz="13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A738D-8EB7-11B2-F211-70D9D8334462}"/>
              </a:ext>
            </a:extLst>
          </p:cNvPr>
          <p:cNvSpPr/>
          <p:nvPr/>
        </p:nvSpPr>
        <p:spPr>
          <a:xfrm>
            <a:off x="10916816" y="6410131"/>
            <a:ext cx="1275184" cy="447869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234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Roles &amp; Permissions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1640582"/>
            <a:ext cx="3168769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1697236"/>
            <a:ext cx="355154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 (RBAC)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140347"/>
            <a:ext cx="10868745" cy="3106737"/>
          </a:xfrm>
          <a:prstGeom prst="roundRect">
            <a:avLst>
              <a:gd name="adj" fmla="val 255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475" y="269180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42506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39320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825" y="2146697"/>
            <a:ext cx="5428023" cy="545108"/>
          </a:xfrm>
          <a:custGeom>
            <a:avLst/>
            <a:gdLst/>
            <a:ahLst/>
            <a:cxnLst/>
            <a:rect l="l" t="t" r="r" b="b"/>
            <a:pathLst>
              <a:path w="5428023" h="545108">
                <a:moveTo>
                  <a:pt x="66156" y="0"/>
                </a:moveTo>
                <a:lnTo>
                  <a:pt x="5428023" y="0"/>
                </a:lnTo>
                <a:lnTo>
                  <a:pt x="5428023" y="545108"/>
                </a:lnTo>
                <a:lnTo>
                  <a:pt x="0" y="54510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2D5016"/>
          </a:solidFill>
          <a:ln/>
        </p:spPr>
      </p:sp>
      <p:sp>
        <p:nvSpPr>
          <p:cNvPr id="10" name="Text 8"/>
          <p:cNvSpPr/>
          <p:nvPr/>
        </p:nvSpPr>
        <p:spPr>
          <a:xfrm>
            <a:off x="856832" y="2266454"/>
            <a:ext cx="56595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5848" y="2146697"/>
            <a:ext cx="5428023" cy="545108"/>
          </a:xfrm>
          <a:custGeom>
            <a:avLst/>
            <a:gdLst/>
            <a:ahLst/>
            <a:cxnLst/>
            <a:rect l="l" t="t" r="r" b="b"/>
            <a:pathLst>
              <a:path w="5428023" h="545108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2D5016"/>
          </a:solidFill>
          <a:ln/>
        </p:spPr>
      </p:sp>
      <p:sp>
        <p:nvSpPr>
          <p:cNvPr id="12" name="Text 10"/>
          <p:cNvSpPr/>
          <p:nvPr/>
        </p:nvSpPr>
        <p:spPr>
          <a:xfrm>
            <a:off x="6284854" y="2266454"/>
            <a:ext cx="56595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Permissions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6832" y="2814737"/>
            <a:ext cx="56595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Farmer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84854" y="2814737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Create/edit farms, log soil readings, submit advisory requests, submit disease reports, view responses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832" y="3665438"/>
            <a:ext cx="56595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Officer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84854" y="3665438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request queue, assign requests, respond to requests, review disease reports, resolve reports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6832" y="4516140"/>
            <a:ext cx="56595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84854" y="4516140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users, manage knowledge base, view system analytics, configure system settings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5459710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CCEEFF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727402"/>
            <a:ext cx="236234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5723" y="569595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ensures data isolation — farmers see only their own farms; officers see only their assigned requests.</a:t>
            </a:r>
            <a:endParaRPr lang="en-US" sz="14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0BCEDE-AAB8-E842-1B19-3155C1D7AFCA}"/>
              </a:ext>
            </a:extLst>
          </p:cNvPr>
          <p:cNvSpPr/>
          <p:nvPr/>
        </p:nvSpPr>
        <p:spPr>
          <a:xfrm>
            <a:off x="10916816" y="6410131"/>
            <a:ext cx="1275184" cy="447869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464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61475" y="1339552"/>
            <a:ext cx="1844133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007E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2159" y="1384895"/>
            <a:ext cx="227235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THREE-TIER ARCHITECTURE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244" y="1705273"/>
            <a:ext cx="5873206" cy="39734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47195" y="3242152"/>
            <a:ext cx="1069451" cy="770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Three-Tier 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45529" y="4398579"/>
            <a:ext cx="1590999" cy="513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 (Spring Boot)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45529" y="4981683"/>
            <a:ext cx="1590999" cy="35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API, Spring Security, JWT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16989" y="4398579"/>
            <a:ext cx="1590998" cy="513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(PostgreSQL)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16989" y="4981683"/>
            <a:ext cx="1590998" cy="35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storage via Spring Data JPA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16989" y="2042251"/>
            <a:ext cx="1590998" cy="513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Future: FastAPI AI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16989" y="2625355"/>
            <a:ext cx="1590998" cy="35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microservice (dashed integration)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55719" y="2170637"/>
            <a:ext cx="1590998" cy="256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 (React)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55719" y="2496969"/>
            <a:ext cx="1590998" cy="35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SPA with Tailwind &amp; Axios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1475" y="5814715"/>
            <a:ext cx="10868745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Spring Boot REST API serves as the central hub. Spring Security + JWT handles authentication at every endpoint. API documentation is accessible at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/swagger-ui.html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dashed FastAPI box represents the planned AI microservice integration.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8E02F3-0DC8-B6A8-6086-9D25DED21D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641"/>
          <a:stretch>
            <a:fillRect/>
          </a:stretch>
        </p:blipFill>
        <p:spPr>
          <a:xfrm>
            <a:off x="152455" y="1114305"/>
            <a:ext cx="7424789" cy="457163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C9ED987-BD1E-8084-7AE7-C74E91C3C390}"/>
              </a:ext>
            </a:extLst>
          </p:cNvPr>
          <p:cNvSpPr/>
          <p:nvPr/>
        </p:nvSpPr>
        <p:spPr>
          <a:xfrm>
            <a:off x="10916816" y="6410131"/>
            <a:ext cx="1275184" cy="447869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12743352-6FC2-9381-8CAF-8F66FA63BE85}"/>
              </a:ext>
            </a:extLst>
          </p:cNvPr>
          <p:cNvSpPr/>
          <p:nvPr/>
        </p:nvSpPr>
        <p:spPr>
          <a:xfrm>
            <a:off x="7577244" y="1101174"/>
            <a:ext cx="4344085" cy="4666853"/>
          </a:xfrm>
          <a:prstGeom prst="roundRect">
            <a:avLst>
              <a:gd name="adj" fmla="val 485"/>
            </a:avLst>
          </a:prstGeom>
          <a:solidFill>
            <a:srgbClr val="2D5016"/>
          </a:solidFill>
          <a:ln/>
        </p:spPr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F378B9E0-D375-84E9-2C40-9A4375CEB75F}"/>
              </a:ext>
            </a:extLst>
          </p:cNvPr>
          <p:cNvSpPr/>
          <p:nvPr/>
        </p:nvSpPr>
        <p:spPr>
          <a:xfrm>
            <a:off x="7717735" y="1220634"/>
            <a:ext cx="40631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Deployment Architecture</a:t>
            </a:r>
            <a:endParaRPr lang="en-US" sz="1600" b="1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41D218C3-FEC6-F179-DD37-A5C9A6490311}"/>
              </a:ext>
            </a:extLst>
          </p:cNvPr>
          <p:cNvSpPr/>
          <p:nvPr/>
        </p:nvSpPr>
        <p:spPr>
          <a:xfrm>
            <a:off x="7717735" y="1559664"/>
            <a:ext cx="4063105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 (Vercel)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↓ HTTPS / REST API calls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 Boot (Render)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↓ Spring Data JPA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 15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(Docker local · Managed cloud production)</a:t>
            </a:r>
            <a:endParaRPr lang="en-US" sz="1100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0DBDE09B-508C-4CCA-2BC5-596D849B59D2}"/>
              </a:ext>
            </a:extLst>
          </p:cNvPr>
          <p:cNvSpPr/>
          <p:nvPr/>
        </p:nvSpPr>
        <p:spPr>
          <a:xfrm>
            <a:off x="7717735" y="2977500"/>
            <a:ext cx="406310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E612660E-C1B9-0169-3576-107A408A9F80}"/>
              </a:ext>
            </a:extLst>
          </p:cNvPr>
          <p:cNvSpPr/>
          <p:nvPr/>
        </p:nvSpPr>
        <p:spPr>
          <a:xfrm>
            <a:off x="7717735" y="3166016"/>
            <a:ext cx="40631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Authentication Layer</a:t>
            </a:r>
            <a:endParaRPr lang="en-US" sz="135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6491008B-83C5-8D00-E100-AB353BD8F806}"/>
              </a:ext>
            </a:extLst>
          </p:cNvPr>
          <p:cNvSpPr/>
          <p:nvPr/>
        </p:nvSpPr>
        <p:spPr>
          <a:xfrm>
            <a:off x="7717735" y="3505046"/>
            <a:ext cx="4063105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 Security + JWT</a:t>
            </a: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stateless token-based auth with role enforcement at controller level. All routes protected; tokens validated per request.</a:t>
            </a:r>
            <a:endParaRPr lang="en-US" sz="1100" dirty="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E949EF49-1959-BE9F-CF98-61CF208F84BC}"/>
              </a:ext>
            </a:extLst>
          </p:cNvPr>
          <p:cNvSpPr/>
          <p:nvPr/>
        </p:nvSpPr>
        <p:spPr>
          <a:xfrm>
            <a:off x="7717735" y="4298697"/>
            <a:ext cx="406310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75B74FC9-FE91-EDB6-C0D9-ADDBA0FB69F4}"/>
              </a:ext>
            </a:extLst>
          </p:cNvPr>
          <p:cNvSpPr/>
          <p:nvPr/>
        </p:nvSpPr>
        <p:spPr>
          <a:xfrm>
            <a:off x="7717735" y="4487213"/>
            <a:ext cx="40631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API Documentation</a:t>
            </a:r>
            <a:endParaRPr lang="en-US" sz="135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04DA950F-05B2-6A75-79DD-28B079A2761D}"/>
              </a:ext>
            </a:extLst>
          </p:cNvPr>
          <p:cNvSpPr/>
          <p:nvPr/>
        </p:nvSpPr>
        <p:spPr>
          <a:xfrm>
            <a:off x="7717735" y="4826243"/>
            <a:ext cx="406310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springdoc-openapi</a:t>
            </a: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live Swagger UI available on the deployed backend for all endpoints.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585"/>
            <a:ext cx="10868745" cy="549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Schema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1393"/>
            <a:ext cx="4707018" cy="4707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6484" y="2251770"/>
            <a:ext cx="523008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 Core Tables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06484" y="2674739"/>
            <a:ext cx="5230086" cy="2079625"/>
          </a:xfrm>
          <a:prstGeom prst="rect">
            <a:avLst/>
          </a:prstGeom>
          <a:noFill/>
          <a:ln/>
        </p:spPr>
        <p:txBody>
          <a:bodyPr wrap="square" lIns="0" tIns="66983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Farmers, officers, admins with role-based access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Farm: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Location, crop type, and area details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SoilReading: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Logged pH, nitrogen, and moisture metrics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SeasonLog: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Seasonal crop tracking and history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AdvisoryRequest: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Farmer requests with status workflow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DiseaseReport: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Disease observations with officer review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KnowledgeBaseEntry: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Admin-curated advisory content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6484" y="4887813"/>
            <a:ext cx="5230086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relationships are One-to-Many. Foreign keys enforce referential integrity throughout.</a:t>
            </a:r>
            <a:endParaRPr lang="en-US" sz="13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3B19D6-1277-211E-9E85-61C9266B6D14}"/>
              </a:ext>
            </a:extLst>
          </p:cNvPr>
          <p:cNvSpPr/>
          <p:nvPr/>
        </p:nvSpPr>
        <p:spPr>
          <a:xfrm>
            <a:off x="10916816" y="6410131"/>
            <a:ext cx="1275184" cy="447869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545505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Progress: MVP Complete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5233360" y="2069405"/>
            <a:ext cx="3053877" cy="2628702"/>
          </a:xfrm>
          <a:prstGeom prst="roundRect">
            <a:avLst>
              <a:gd name="adj" fmla="val 302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264767"/>
            <a:ext cx="266316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428717" y="2688233"/>
            <a:ext cx="26631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signup/login, farm CRUD, soil reading logging, full advisory request workflow, disease report submission with review and resolve.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069405"/>
            <a:ext cx="3053976" cy="2628702"/>
          </a:xfrm>
          <a:prstGeom prst="roundRect">
            <a:avLst>
              <a:gd name="adj" fmla="val 302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264767"/>
            <a:ext cx="266326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671601" y="2688233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dashboards for Farmer and Officer, protected routes, Tailwind v4 styling applied throughout.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887119"/>
            <a:ext cx="6296860" cy="1425377"/>
          </a:xfrm>
          <a:prstGeom prst="roundRect">
            <a:avLst>
              <a:gd name="adj" fmla="val 557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5082480"/>
            <a:ext cx="59061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API &amp; Database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428717" y="5505946"/>
            <a:ext cx="5906146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UI live at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/swagger-ui.html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All 7 tables created, migrations tested, referential integrity verified.</a:t>
            </a: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539BCD-465F-CAD2-97B0-B3957B352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338" y="0"/>
            <a:ext cx="4951232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7BB366C-1386-ADF5-A933-43A9A7C63EB6}"/>
              </a:ext>
            </a:extLst>
          </p:cNvPr>
          <p:cNvSpPr/>
          <p:nvPr/>
        </p:nvSpPr>
        <p:spPr>
          <a:xfrm>
            <a:off x="10916816" y="6410131"/>
            <a:ext cx="1275184" cy="447869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71884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Current Status &amp;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39680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7C2C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✓ Completed — Review-II Deliverables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4888" y="1767979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Authentication &amp; Authorization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4888" y="2080419"/>
            <a:ext cx="48696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Spring Security + JWT with role-based access control enforced across all routes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4888" y="2718495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Core Agronomic Modules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4888" y="3030934"/>
            <a:ext cx="48696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Farm profiles, soil reading logs, and season log management — all CRUD operations functional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4888" y="3669010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Advisory &amp; Disease Workflows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4888" y="3981450"/>
            <a:ext cx="48696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State machine-driven advisory requests and disease reports with full status lifecycle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4888" y="4619526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Role Dashboards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4888" y="4931966"/>
            <a:ext cx="48696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Farmer and officer dashboards with real-time case queues and status tracking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4888" y="5570041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41 Unit Tests + CI/CD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4888" y="5882481"/>
            <a:ext cx="48696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GitHub Actions pipeline with branch protection; live deployment on Render and Vercel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8275" y="1291034"/>
            <a:ext cx="5463542" cy="5091509"/>
          </a:xfrm>
          <a:prstGeom prst="roundRect">
            <a:avLst>
              <a:gd name="adj" fmla="val 390"/>
            </a:avLst>
          </a:prstGeom>
          <a:solidFill>
            <a:srgbClr val="2D501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0531" y="1396802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 Progress / Planned — Review-III (Day 60)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531" y="172253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0531" y="1928217"/>
            <a:ext cx="2546584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0531" y="2032397"/>
            <a:ext cx="254658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0531" y="2344837"/>
            <a:ext cx="2546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management, knowledge base CRUD, and platform analytics — completing the three-role system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52879" y="172253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52879" y="1928217"/>
            <a:ext cx="2546683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4" name="Text 22"/>
          <p:cNvSpPr/>
          <p:nvPr/>
        </p:nvSpPr>
        <p:spPr>
          <a:xfrm>
            <a:off x="8952879" y="2032397"/>
            <a:ext cx="2546683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Crop Recommendation Microservice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52879" y="2551509"/>
            <a:ext cx="254668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Python FastAPI + Random Forest model; human-in-the-loop design with officer review before delivery to farmer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0531" y="332799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0531" y="3533676"/>
            <a:ext cx="2546584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0531" y="3637855"/>
            <a:ext cx="254658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Card &amp; Transparency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0531" y="3950295"/>
            <a:ext cx="254658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Accuracy metrics, training data description, and model limitations documented for trustworthy AI deployment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52879" y="332799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52879" y="3533676"/>
            <a:ext cx="2546683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32" name="Text 30"/>
          <p:cNvSpPr/>
          <p:nvPr/>
        </p:nvSpPr>
        <p:spPr>
          <a:xfrm>
            <a:off x="8952879" y="3637855"/>
            <a:ext cx="254668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Final Deliverables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52879" y="3950295"/>
            <a:ext cx="254668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README v3, demo video walkthrough, and UI/UX polish pass across all dashboards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0531" y="4930577"/>
            <a:ext cx="5199032" cy="828080"/>
          </a:xfrm>
          <a:prstGeom prst="roundRect">
            <a:avLst>
              <a:gd name="adj" fmla="val 2397"/>
            </a:avLst>
          </a:prstGeom>
          <a:solidFill>
            <a:srgbClr val="146C50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786" y="5093295"/>
            <a:ext cx="165294" cy="132259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730336" y="5058866"/>
            <a:ext cx="463697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human-in-the-loop AI design ensures the platform remains </a:t>
            </a: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trustworthy and expert-driven</a:t>
            </a: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as it scales — officers review AI recommendations before they reach farmers.</a:t>
            </a:r>
            <a:endParaRPr lang="en-US" sz="1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E3BECD1-6F03-A7B2-8106-C36E10012811}"/>
              </a:ext>
            </a:extLst>
          </p:cNvPr>
          <p:cNvSpPr/>
          <p:nvPr/>
        </p:nvSpPr>
        <p:spPr>
          <a:xfrm>
            <a:off x="10916816" y="6410131"/>
            <a:ext cx="1275184" cy="447869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84EA8D-0491-6A9D-1FEC-E38C03014D25}"/>
              </a:ext>
            </a:extLst>
          </p:cNvPr>
          <p:cNvSpPr/>
          <p:nvPr/>
        </p:nvSpPr>
        <p:spPr>
          <a:xfrm>
            <a:off x="10916816" y="6410131"/>
            <a:ext cx="1275184" cy="447869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96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977</Words>
  <Application>Microsoft Office PowerPoint</Application>
  <PresentationFormat>Widescreen</PresentationFormat>
  <Paragraphs>111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Petrona Bold</vt:lpstr>
      <vt:lpstr>Inter Medium</vt:lpstr>
      <vt:lpstr>Inter Bold</vt:lpstr>
      <vt:lpstr>DM Sans Light</vt:lpstr>
      <vt:lpstr>Arial</vt:lpstr>
      <vt:lpstr>Inter</vt:lpstr>
      <vt:lpstr>DM Sans SemiBold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Suhail Subbhan</cp:lastModifiedBy>
  <cp:revision>4</cp:revision>
  <dcterms:created xsi:type="dcterms:W3CDTF">2026-08-12T15:20:40Z</dcterms:created>
  <dcterms:modified xsi:type="dcterms:W3CDTF">2026-09-21T17:50:10Z</dcterms:modified>
</cp:coreProperties>
</file>